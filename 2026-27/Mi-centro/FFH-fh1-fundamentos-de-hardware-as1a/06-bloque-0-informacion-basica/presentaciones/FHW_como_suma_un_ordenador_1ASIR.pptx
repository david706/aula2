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Portada: presenta la idea de que la suma binaria se entiende mejor como un puente entre matemáticas sencillas y hardware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 que la sesión no es una clase de matemáticas abstracta: es una historia de cómo el hardware suma.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menciones todavía base 2. Solo dos estados: 0 y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objetivo es que vean el patrón de conteo. No entrar en potencias.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 literalmente: las matemáticas no cambian; cambia la escritura.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Haz que repitan los cuatro casos. La regla de 1+1=10 es la importante.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Primer ejemplo muy fácil para dar confianza.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derecha a izquierda. Asegurar que entienden que el 1 se mueve a la columna de la izquierda.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Primer contacto con hardware: el carry es una señal.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 que la ALU no “piensa”: aplica reglas eléctricas y lógicas muy rápido.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 significa full adder/sumador completo. Es opcional mencionarlo; lo importante es el encadenamiento de carries.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 hexadecimal como una herramienta de lectura, no como una complicación matemática.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empezar con base 16. Solo contar y asociar letras con valores.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 agrupando desde la derecha en grupos de cuatro.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 F+1=10 con 9+1=10. Misma lógica.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Clave de FHW: la CPU opera en binario; hexadecimal es una abreviatura para humanos.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entrar en complemento a dos. Solo plantear que el resultado no cabe en las casillas disponibles.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recalca que no necesitan ser “buenos en matemáticas”; necesitan entender el patrón y repetirlo paso a paso.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214884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5F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FHW · Fundamentos de Hardware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987552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suma un ordenador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652760" y="201168"/>
            <a:ext cx="868680" cy="301752"/>
          </a:xfrm>
          <a:prstGeom prst="roundRect">
            <a:avLst/>
          </a:prstGeom>
          <a:solidFill>
            <a:srgbClr val="17243A"/>
          </a:solidFill>
          <a:ln>
            <a:solidFill>
              <a:srgbClr val="00D6A3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6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567160" y="201168"/>
            <a:ext cx="411480" cy="301752"/>
          </a:xfrm>
          <a:prstGeom prst="roundRect">
            <a:avLst/>
          </a:prstGeom>
          <a:solidFill>
            <a:srgbClr val="17243A"/>
          </a:solidFill>
          <a:ln>
            <a:solidFill>
              <a:srgbClr val="FFC857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6345936"/>
            <a:ext cx="640080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7F9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Matemáticas sin miedo  →  bits  →  circuitos  →  CPU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143000"/>
            <a:ext cx="5669280" cy="4754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95F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Binario y hexadecimal para 1º ASIR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" y="1664208"/>
            <a:ext cx="585216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5C4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empezar por fórmulas. Primero entendemos el patrón; luego vemos cómo lo hace la CPU.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834640"/>
            <a:ext cx="3703320" cy="1143000"/>
          </a:xfrm>
          <a:prstGeom prst="roundRect">
            <a:avLst/>
          </a:prstGeom>
          <a:solidFill>
            <a:srgbClr val="1B2C48"/>
          </a:solidFill>
          <a:ln w="12700">
            <a:solidFill>
              <a:srgbClr val="FFC85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4300" b="1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+ 1 = 10</a:t>
            </a:r>
            <a:endParaRPr lang="en-US" sz="4300" dirty="0"/>
          </a:p>
        </p:txBody>
      </p:sp>
      <p:sp>
        <p:nvSpPr>
          <p:cNvPr id="10" name="Text 8"/>
          <p:cNvSpPr/>
          <p:nvPr/>
        </p:nvSpPr>
        <p:spPr>
          <a:xfrm>
            <a:off x="4754880" y="2834640"/>
            <a:ext cx="2743200" cy="1143000"/>
          </a:xfrm>
          <a:prstGeom prst="roundRect">
            <a:avLst/>
          </a:prstGeom>
          <a:solidFill>
            <a:srgbClr val="20324F"/>
          </a:solidFill>
          <a:ln w="13970">
            <a:solidFill>
              <a:srgbClr val="00D6A3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magia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2 se escribe 10 en binario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818120" y="1938528"/>
            <a:ext cx="2971800" cy="2743200"/>
          </a:xfrm>
          <a:prstGeom prst="roundRect">
            <a:avLst/>
          </a:prstGeom>
          <a:solidFill>
            <a:srgbClr val="13283B"/>
          </a:solidFill>
          <a:ln w="13970">
            <a:solidFill>
              <a:srgbClr val="00D6A3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Dentro de la CPU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 “me llevo 1” es una señal llamada CARRY.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31520" y="5074920"/>
            <a:ext cx="10012680" cy="40233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MATEMÁTICAS  →  BITS  →  CIRCUITOS  →  ALU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214884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5F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 de clase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987552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camino de la explicación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652760" y="201168"/>
            <a:ext cx="868680" cy="301752"/>
          </a:xfrm>
          <a:prstGeom prst="roundRect">
            <a:avLst/>
          </a:prstGeom>
          <a:solidFill>
            <a:srgbClr val="17243A"/>
          </a:solidFill>
          <a:ln>
            <a:solidFill>
              <a:srgbClr val="00D6A3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6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567160" y="201168"/>
            <a:ext cx="411480" cy="301752"/>
          </a:xfrm>
          <a:prstGeom prst="roundRect">
            <a:avLst/>
          </a:prstGeom>
          <a:solidFill>
            <a:srgbClr val="17243A"/>
          </a:solidFill>
          <a:ln>
            <a:solidFill>
              <a:srgbClr val="FFC857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6345936"/>
            <a:ext cx="640080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7F9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Matemáticas sin miedo  →  bits  →  circuitos  →  CPU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234440"/>
            <a:ext cx="594360" cy="566928"/>
          </a:xfrm>
          <a:prstGeom prst="roundRect">
            <a:avLst/>
          </a:prstGeom>
          <a:solidFill>
            <a:srgbClr val="00D6A3"/>
          </a:solidFill>
          <a:ln w="12700">
            <a:solidFill>
              <a:srgbClr val="00D6A3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08760" y="1207008"/>
            <a:ext cx="8046720" cy="621792"/>
          </a:xfrm>
          <a:prstGeom prst="roundRect">
            <a:avLst/>
          </a:prstGeom>
          <a:solidFill>
            <a:srgbClr val="17243A"/>
          </a:solidFill>
          <a:ln w="13970">
            <a:solidFill>
              <a:srgbClr val="263956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ordenador solo distingue dos estados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13232" y="2167128"/>
            <a:ext cx="594360" cy="566928"/>
          </a:xfrm>
          <a:prstGeom prst="roundRect">
            <a:avLst/>
          </a:prstGeom>
          <a:solidFill>
            <a:srgbClr val="FFC857"/>
          </a:solidFill>
          <a:ln w="12700">
            <a:solidFill>
              <a:srgbClr val="FFC85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08760" y="2139696"/>
            <a:ext cx="8046720" cy="621792"/>
          </a:xfrm>
          <a:prstGeom prst="roundRect">
            <a:avLst/>
          </a:prstGeom>
          <a:solidFill>
            <a:srgbClr val="17243A"/>
          </a:solidFill>
          <a:ln w="13970">
            <a:solidFill>
              <a:srgbClr val="263956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Aprendemos a contar con 0 y 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13232" y="3099816"/>
            <a:ext cx="594360" cy="566928"/>
          </a:xfrm>
          <a:prstGeom prst="roundRect">
            <a:avLst/>
          </a:prstGeom>
          <a:solidFill>
            <a:srgbClr val="00D6A3"/>
          </a:solidFill>
          <a:ln w="12700">
            <a:solidFill>
              <a:srgbClr val="00D6A3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08760" y="3072384"/>
            <a:ext cx="8046720" cy="621792"/>
          </a:xfrm>
          <a:prstGeom prst="roundRect">
            <a:avLst/>
          </a:prstGeom>
          <a:solidFill>
            <a:srgbClr val="17243A"/>
          </a:solidFill>
          <a:ln w="13970">
            <a:solidFill>
              <a:srgbClr val="263956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Sumamos y aparece el “me llevo 1”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13232" y="4032504"/>
            <a:ext cx="594360" cy="566928"/>
          </a:xfrm>
          <a:prstGeom prst="roundRect">
            <a:avLst/>
          </a:prstGeom>
          <a:solidFill>
            <a:srgbClr val="FFC857"/>
          </a:solidFill>
          <a:ln w="12700">
            <a:solidFill>
              <a:srgbClr val="FFC85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08760" y="4005072"/>
            <a:ext cx="8046720" cy="621792"/>
          </a:xfrm>
          <a:prstGeom prst="roundRect">
            <a:avLst/>
          </a:prstGeom>
          <a:solidFill>
            <a:srgbClr val="17243A"/>
          </a:solidFill>
          <a:ln w="13970">
            <a:solidFill>
              <a:srgbClr val="263956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 “me llevo 1” existe como CARRY en la CPU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13232" y="4965192"/>
            <a:ext cx="594360" cy="566928"/>
          </a:xfrm>
          <a:prstGeom prst="roundRect">
            <a:avLst/>
          </a:prstGeom>
          <a:solidFill>
            <a:srgbClr val="00D6A3"/>
          </a:solidFill>
          <a:ln w="12700">
            <a:solidFill>
              <a:srgbClr val="00D6A3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08760" y="4937760"/>
            <a:ext cx="8046720" cy="621792"/>
          </a:xfrm>
          <a:prstGeom prst="roundRect">
            <a:avLst/>
          </a:prstGeom>
          <a:solidFill>
            <a:srgbClr val="17243A"/>
          </a:solidFill>
          <a:ln w="13970">
            <a:solidFill>
              <a:srgbClr val="263956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Usamos hexadecimal para leer binario sin volvernos locos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966960" y="1920240"/>
            <a:ext cx="1417320" cy="2468880"/>
          </a:xfrm>
          <a:prstGeom prst="roundRect">
            <a:avLst/>
          </a:prstGeom>
          <a:solidFill>
            <a:srgbClr val="13283B"/>
          </a:solidFill>
          <a:ln w="13970">
            <a:solidFill>
              <a:srgbClr val="95FFE0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entenderlo antes de memorizarlo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214884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5F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987552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Primera idea: el ordenador solo distingue dos estados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652760" y="201168"/>
            <a:ext cx="868680" cy="301752"/>
          </a:xfrm>
          <a:prstGeom prst="roundRect">
            <a:avLst/>
          </a:prstGeom>
          <a:solidFill>
            <a:srgbClr val="17243A"/>
          </a:solidFill>
          <a:ln>
            <a:solidFill>
              <a:srgbClr val="00D6A3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6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567160" y="201168"/>
            <a:ext cx="411480" cy="301752"/>
          </a:xfrm>
          <a:prstGeom prst="roundRect">
            <a:avLst/>
          </a:prstGeom>
          <a:solidFill>
            <a:srgbClr val="17243A"/>
          </a:solidFill>
          <a:ln>
            <a:solidFill>
              <a:srgbClr val="FFC857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6345936"/>
            <a:ext cx="640080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7F9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Matemáticas sin miedo  →  bits  →  circuitos  →  CPU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1143000"/>
            <a:ext cx="457200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 vida real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37960" y="1143000"/>
            <a:ext cx="457200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ordenador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1645920"/>
            <a:ext cx="2011680" cy="1143000"/>
          </a:xfrm>
          <a:prstGeom prst="roundRect">
            <a:avLst/>
          </a:prstGeom>
          <a:solidFill>
            <a:srgbClr val="2A1B2F"/>
          </a:solidFill>
          <a:ln w="13970">
            <a:solidFill>
              <a:srgbClr val="FF6B8A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Apagado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246120" y="1645920"/>
            <a:ext cx="1188720" cy="1143000"/>
          </a:xfrm>
          <a:prstGeom prst="roundRect">
            <a:avLst/>
          </a:prstGeom>
          <a:solidFill>
            <a:srgbClr val="1B2233"/>
          </a:solidFill>
          <a:ln w="12700">
            <a:solidFill>
              <a:srgbClr val="FF6B8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6537960" y="1645920"/>
            <a:ext cx="2011680" cy="1143000"/>
          </a:xfrm>
          <a:prstGeom prst="roundRect">
            <a:avLst/>
          </a:prstGeom>
          <a:solidFill>
            <a:srgbClr val="173622"/>
          </a:solidFill>
          <a:ln w="13970">
            <a:solidFill>
              <a:srgbClr val="67FFA1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Encendido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869680" y="1645920"/>
            <a:ext cx="1188720" cy="1143000"/>
          </a:xfrm>
          <a:prstGeom prst="roundRect">
            <a:avLst/>
          </a:prstGeom>
          <a:solidFill>
            <a:srgbClr val="1B2233"/>
          </a:solidFill>
          <a:ln w="12700">
            <a:solidFill>
              <a:srgbClr val="67FFA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67FF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914400" y="3429000"/>
            <a:ext cx="969264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bit es una casilla que solo puede valer 0 o 1.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874520" y="4343400"/>
            <a:ext cx="7680960" cy="960120"/>
          </a:xfrm>
          <a:prstGeom prst="roundRect">
            <a:avLst/>
          </a:prstGeom>
          <a:solidFill>
            <a:srgbClr val="20324F"/>
          </a:solidFill>
          <a:ln w="13970">
            <a:solidFill>
              <a:srgbClr val="00D6A3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sumar en un ordenador no hace falta empezar con fórmulas: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basta con saber manejar ceros, unos y el “me llevo”.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214884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5F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987552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contamos si solo tenemos 0 y 1?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652760" y="201168"/>
            <a:ext cx="868680" cy="301752"/>
          </a:xfrm>
          <a:prstGeom prst="roundRect">
            <a:avLst/>
          </a:prstGeom>
          <a:solidFill>
            <a:srgbClr val="17243A"/>
          </a:solidFill>
          <a:ln>
            <a:solidFill>
              <a:srgbClr val="00D6A3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6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567160" y="201168"/>
            <a:ext cx="411480" cy="301752"/>
          </a:xfrm>
          <a:prstGeom prst="roundRect">
            <a:avLst/>
          </a:prstGeom>
          <a:solidFill>
            <a:srgbClr val="17243A"/>
          </a:solidFill>
          <a:ln>
            <a:solidFill>
              <a:srgbClr val="FFC857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6345936"/>
            <a:ext cx="640080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7F9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Matemáticas sin miedo  →  bits  →  circuitos  →  CPU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1234440"/>
            <a:ext cx="420624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Decimal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1828800"/>
            <a:ext cx="457200" cy="475488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1828800"/>
            <a:ext cx="457200" cy="475488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874520" y="1828800"/>
            <a:ext cx="457200" cy="475488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377440" y="1828800"/>
            <a:ext cx="457200" cy="475488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880360" y="1828800"/>
            <a:ext cx="457200" cy="475488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83280" y="1828800"/>
            <a:ext cx="457200" cy="475488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886200" y="1828800"/>
            <a:ext cx="457200" cy="475488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389120" y="1828800"/>
            <a:ext cx="457200" cy="475488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892040" y="1828800"/>
            <a:ext cx="457200" cy="475488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394960" y="1828800"/>
            <a:ext cx="457200" cy="475488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63640" y="1828800"/>
            <a:ext cx="777240" cy="475488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FFC85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2514600"/>
            <a:ext cx="621792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B5C4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después del 9 viene 10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" y="3246120"/>
            <a:ext cx="420624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Binario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554480" y="3840480"/>
            <a:ext cx="457200" cy="475488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148840" y="3840480"/>
            <a:ext cx="457200" cy="475488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971800" y="3840480"/>
            <a:ext cx="777240" cy="475488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00D6A3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6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886200" y="3840480"/>
            <a:ext cx="777240" cy="475488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00D6A3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6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800600" y="3840480"/>
            <a:ext cx="1005840" cy="475488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00D6A3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6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14400" y="4526280"/>
            <a:ext cx="548640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B5C4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binario no existe la cifra 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543800" y="1737360"/>
            <a:ext cx="2743200" cy="2651760"/>
          </a:xfrm>
          <a:prstGeom prst="roundRect">
            <a:avLst/>
          </a:prstGeom>
          <a:solidFill>
            <a:srgbClr val="13283B"/>
          </a:solidFill>
          <a:ln w="13970">
            <a:solidFill>
              <a:srgbClr val="95FFE0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Clave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cambian las matemáticas.</a:t>
            </a:r>
            <a:endParaRPr lang="en-US" sz="2200" dirty="0"/>
          </a:p>
          <a:p>
            <a:pPr algn="ctr" indent="0" marL="0">
              <a:buNone/>
            </a:pP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 la forma de escribir el número.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214884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5F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987552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regla que desbloquea todo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652760" y="201168"/>
            <a:ext cx="868680" cy="301752"/>
          </a:xfrm>
          <a:prstGeom prst="roundRect">
            <a:avLst/>
          </a:prstGeom>
          <a:solidFill>
            <a:srgbClr val="17243A"/>
          </a:solidFill>
          <a:ln>
            <a:solidFill>
              <a:srgbClr val="00D6A3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6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567160" y="201168"/>
            <a:ext cx="411480" cy="301752"/>
          </a:xfrm>
          <a:prstGeom prst="roundRect">
            <a:avLst/>
          </a:prstGeom>
          <a:solidFill>
            <a:srgbClr val="17243A"/>
          </a:solidFill>
          <a:ln>
            <a:solidFill>
              <a:srgbClr val="FFC857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6345936"/>
            <a:ext cx="640080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7F9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Matemáticas sin miedo  →  bits  →  circuitos  →  CPU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417320" y="1298448"/>
            <a:ext cx="4114800" cy="1078992"/>
          </a:xfrm>
          <a:prstGeom prst="roundRect">
            <a:avLst/>
          </a:prstGeom>
          <a:solidFill>
            <a:srgbClr val="1B2C48"/>
          </a:solidFill>
          <a:ln w="12700">
            <a:solidFill>
              <a:srgbClr val="FFC85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+ 1 = 10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989320" y="1298448"/>
            <a:ext cx="4206240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Uno más uno sigue siendo dos.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89320" y="1874520"/>
            <a:ext cx="4434840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B5C4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diferencia es que en binario el número dos se escribe como 10.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417320" y="3154680"/>
            <a:ext cx="4389120" cy="685800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FFC85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Decimal:  1 + 1 = 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417320" y="4069080"/>
            <a:ext cx="4389120" cy="685800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00D6A3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Binario:  1 + 1 = 10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400800" y="3154680"/>
            <a:ext cx="3474720" cy="1600200"/>
          </a:xfrm>
          <a:prstGeom prst="roundRect">
            <a:avLst/>
          </a:prstGeom>
          <a:solidFill>
            <a:srgbClr val="13283B"/>
          </a:solidFill>
          <a:ln w="13970">
            <a:solidFill>
              <a:srgbClr val="95FFE0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Frase para clase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“No aparece un 2 porque en binario no existe la cifra 2.”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214884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5F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mínimas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987552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Sumar bits: solo cuatro casos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652760" y="201168"/>
            <a:ext cx="868680" cy="301752"/>
          </a:xfrm>
          <a:prstGeom prst="roundRect">
            <a:avLst/>
          </a:prstGeom>
          <a:solidFill>
            <a:srgbClr val="17243A"/>
          </a:solidFill>
          <a:ln>
            <a:solidFill>
              <a:srgbClr val="00D6A3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6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567160" y="201168"/>
            <a:ext cx="411480" cy="301752"/>
          </a:xfrm>
          <a:prstGeom prst="roundRect">
            <a:avLst/>
          </a:prstGeom>
          <a:solidFill>
            <a:srgbClr val="17243A"/>
          </a:solidFill>
          <a:ln>
            <a:solidFill>
              <a:srgbClr val="FFC857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6345936"/>
            <a:ext cx="640080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7F9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Matemáticas sin miedo  →  bits  →  circuitos  →  CPU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1481328"/>
            <a:ext cx="1920240" cy="731520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+ 0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554480" y="2304288"/>
            <a:ext cx="54864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B5C4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868680" y="2788920"/>
            <a:ext cx="1920240" cy="731520"/>
          </a:xfrm>
          <a:prstGeom prst="roundRect">
            <a:avLst/>
          </a:prstGeom>
          <a:solidFill>
            <a:srgbClr val="122032"/>
          </a:solidFill>
          <a:ln w="12700">
            <a:solidFill>
              <a:srgbClr val="00D6A3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D6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657600" y="1481328"/>
            <a:ext cx="1920240" cy="731520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+ 1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343400" y="2304288"/>
            <a:ext cx="54864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B5C4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3657600" y="2788920"/>
            <a:ext cx="1920240" cy="731520"/>
          </a:xfrm>
          <a:prstGeom prst="roundRect">
            <a:avLst/>
          </a:prstGeom>
          <a:solidFill>
            <a:srgbClr val="122032"/>
          </a:solidFill>
          <a:ln w="12700">
            <a:solidFill>
              <a:srgbClr val="00D6A3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D6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446520" y="1481328"/>
            <a:ext cx="1920240" cy="731520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+ 0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132320" y="2304288"/>
            <a:ext cx="54864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B5C4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6446520" y="2788920"/>
            <a:ext cx="1920240" cy="731520"/>
          </a:xfrm>
          <a:prstGeom prst="roundRect">
            <a:avLst/>
          </a:prstGeom>
          <a:solidFill>
            <a:srgbClr val="122032"/>
          </a:solidFill>
          <a:ln w="12700">
            <a:solidFill>
              <a:srgbClr val="00D6A3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D6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235440" y="1481328"/>
            <a:ext cx="1920240" cy="731520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FFC85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+ 1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9921240" y="2304288"/>
            <a:ext cx="54864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B5C4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9235440" y="2788920"/>
            <a:ext cx="1920240" cy="731520"/>
          </a:xfrm>
          <a:prstGeom prst="roundRect">
            <a:avLst/>
          </a:prstGeom>
          <a:solidFill>
            <a:srgbClr val="122032"/>
          </a:solidFill>
          <a:ln w="12700">
            <a:solidFill>
              <a:srgbClr val="FFC85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143000" y="4343400"/>
            <a:ext cx="9509760" cy="868680"/>
          </a:xfrm>
          <a:prstGeom prst="roundRect">
            <a:avLst/>
          </a:prstGeom>
          <a:solidFill>
            <a:srgbClr val="13283B"/>
          </a:solidFill>
          <a:ln w="13970">
            <a:solidFill>
              <a:srgbClr val="FFC857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sale 10, escribo 0 y llevo 1 a la siguiente columna.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214884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5F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guiado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987552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Primera suma: sin “me llevo”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652760" y="201168"/>
            <a:ext cx="868680" cy="301752"/>
          </a:xfrm>
          <a:prstGeom prst="roundRect">
            <a:avLst/>
          </a:prstGeom>
          <a:solidFill>
            <a:srgbClr val="17243A"/>
          </a:solidFill>
          <a:ln>
            <a:solidFill>
              <a:srgbClr val="00D6A3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6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567160" y="201168"/>
            <a:ext cx="411480" cy="301752"/>
          </a:xfrm>
          <a:prstGeom prst="roundRect">
            <a:avLst/>
          </a:prstGeom>
          <a:solidFill>
            <a:srgbClr val="17243A"/>
          </a:solidFill>
          <a:ln>
            <a:solidFill>
              <a:srgbClr val="FFC857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6345936"/>
            <a:ext cx="640080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7F9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Matemáticas sin miedo  →  bits  →  circuitos  →  CPU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" y="1371600"/>
            <a:ext cx="429768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0010 + 0001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691640"/>
            <a:ext cx="50292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63040" y="2011680"/>
            <a:ext cx="502920" cy="438912"/>
          </a:xfrm>
          <a:prstGeom prst="roundRect">
            <a:avLst/>
          </a:prstGeom>
          <a:solidFill>
            <a:srgbClr val="111C2E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463040" y="2532888"/>
            <a:ext cx="502920" cy="438912"/>
          </a:xfrm>
          <a:prstGeom prst="roundRect">
            <a:avLst/>
          </a:prstGeom>
          <a:solidFill>
            <a:srgbClr val="111C2E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463040" y="3227832"/>
            <a:ext cx="502920" cy="438912"/>
          </a:xfrm>
          <a:prstGeom prst="roundRect">
            <a:avLst/>
          </a:prstGeom>
          <a:solidFill>
            <a:srgbClr val="17243A"/>
          </a:solidFill>
          <a:ln w="12700">
            <a:solidFill>
              <a:srgbClr val="00D6A3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95F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2029968" y="1691640"/>
            <a:ext cx="50292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029968" y="2011680"/>
            <a:ext cx="502920" cy="438912"/>
          </a:xfrm>
          <a:prstGeom prst="roundRect">
            <a:avLst/>
          </a:prstGeom>
          <a:solidFill>
            <a:srgbClr val="111C2E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2029968" y="2532888"/>
            <a:ext cx="502920" cy="438912"/>
          </a:xfrm>
          <a:prstGeom prst="roundRect">
            <a:avLst/>
          </a:prstGeom>
          <a:solidFill>
            <a:srgbClr val="111C2E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2029968" y="3227832"/>
            <a:ext cx="502920" cy="438912"/>
          </a:xfrm>
          <a:prstGeom prst="roundRect">
            <a:avLst/>
          </a:prstGeom>
          <a:solidFill>
            <a:srgbClr val="17243A"/>
          </a:solidFill>
          <a:ln w="12700">
            <a:solidFill>
              <a:srgbClr val="00D6A3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95F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2596896" y="1691640"/>
            <a:ext cx="50292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596896" y="2011680"/>
            <a:ext cx="502920" cy="438912"/>
          </a:xfrm>
          <a:prstGeom prst="roundRect">
            <a:avLst/>
          </a:prstGeom>
          <a:solidFill>
            <a:srgbClr val="111C2E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2596896" y="2532888"/>
            <a:ext cx="502920" cy="438912"/>
          </a:xfrm>
          <a:prstGeom prst="roundRect">
            <a:avLst/>
          </a:prstGeom>
          <a:solidFill>
            <a:srgbClr val="111C2E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2596896" y="3227832"/>
            <a:ext cx="502920" cy="438912"/>
          </a:xfrm>
          <a:prstGeom prst="roundRect">
            <a:avLst/>
          </a:prstGeom>
          <a:solidFill>
            <a:srgbClr val="17243A"/>
          </a:solidFill>
          <a:ln w="12700">
            <a:solidFill>
              <a:srgbClr val="00D6A3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95F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3163824" y="1691640"/>
            <a:ext cx="50292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163824" y="2011680"/>
            <a:ext cx="502920" cy="438912"/>
          </a:xfrm>
          <a:prstGeom prst="roundRect">
            <a:avLst/>
          </a:prstGeom>
          <a:solidFill>
            <a:srgbClr val="111C2E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3163824" y="2532888"/>
            <a:ext cx="502920" cy="438912"/>
          </a:xfrm>
          <a:prstGeom prst="roundRect">
            <a:avLst/>
          </a:prstGeom>
          <a:solidFill>
            <a:srgbClr val="111C2E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3163824" y="3227832"/>
            <a:ext cx="502920" cy="438912"/>
          </a:xfrm>
          <a:prstGeom prst="roundRect">
            <a:avLst/>
          </a:prstGeom>
          <a:solidFill>
            <a:srgbClr val="17243A"/>
          </a:solidFill>
          <a:ln w="12700">
            <a:solidFill>
              <a:srgbClr val="00D6A3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95F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069848" y="2569464"/>
            <a:ext cx="27432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931920" y="3319272"/>
            <a:ext cx="91440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B5C4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03520" y="1691640"/>
            <a:ext cx="4983480" cy="1143000"/>
          </a:xfrm>
          <a:prstGeom prst="roundRect">
            <a:avLst/>
          </a:prstGeom>
          <a:solidFill>
            <a:srgbClr val="20324F"/>
          </a:solidFill>
          <a:ln w="13970">
            <a:solidFill>
              <a:srgbClr val="00D6A3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Traducción sencilla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+ 1 = 3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5303520" y="3154680"/>
            <a:ext cx="4983480" cy="1234440"/>
          </a:xfrm>
          <a:prstGeom prst="roundRect">
            <a:avLst/>
          </a:prstGeom>
          <a:solidFill>
            <a:srgbClr val="13283B"/>
          </a:solidFill>
          <a:ln w="13970">
            <a:solidFill>
              <a:srgbClr val="263956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ha pasado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columna se puede resolver con las reglas básicas. Aquí no aparece ningún arrastre.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6492240" y="4892040"/>
            <a:ext cx="2057400" cy="621792"/>
          </a:xfrm>
          <a:prstGeom prst="roundRect">
            <a:avLst/>
          </a:prstGeom>
          <a:solidFill>
            <a:srgbClr val="17243A"/>
          </a:solidFill>
          <a:ln w="12700">
            <a:solidFill>
              <a:srgbClr val="95FFE0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5F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0011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8732520" y="5047488"/>
            <a:ext cx="146304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5C4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final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214884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5F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 humano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987552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Segunda suma: aparece el “me llevo 1”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652760" y="201168"/>
            <a:ext cx="868680" cy="301752"/>
          </a:xfrm>
          <a:prstGeom prst="roundRect">
            <a:avLst/>
          </a:prstGeom>
          <a:solidFill>
            <a:srgbClr val="17243A"/>
          </a:solidFill>
          <a:ln>
            <a:solidFill>
              <a:srgbClr val="00D6A3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6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567160" y="201168"/>
            <a:ext cx="411480" cy="301752"/>
          </a:xfrm>
          <a:prstGeom prst="roundRect">
            <a:avLst/>
          </a:prstGeom>
          <a:solidFill>
            <a:srgbClr val="17243A"/>
          </a:solidFill>
          <a:ln>
            <a:solidFill>
              <a:srgbClr val="FFC857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6345936"/>
            <a:ext cx="640080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7F9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Matemáticas sin miedo  →  bits  →  circuitos  →  CPU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" y="1371600"/>
            <a:ext cx="429768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0011 + 0001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691640"/>
            <a:ext cx="50292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63040" y="2011680"/>
            <a:ext cx="502920" cy="438912"/>
          </a:xfrm>
          <a:prstGeom prst="roundRect">
            <a:avLst/>
          </a:prstGeom>
          <a:solidFill>
            <a:srgbClr val="111C2E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463040" y="2532888"/>
            <a:ext cx="502920" cy="438912"/>
          </a:xfrm>
          <a:prstGeom prst="roundRect">
            <a:avLst/>
          </a:prstGeom>
          <a:solidFill>
            <a:srgbClr val="111C2E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463040" y="3227832"/>
            <a:ext cx="502920" cy="438912"/>
          </a:xfrm>
          <a:prstGeom prst="roundRect">
            <a:avLst/>
          </a:prstGeom>
          <a:solidFill>
            <a:srgbClr val="17243A"/>
          </a:solidFill>
          <a:ln w="12700">
            <a:solidFill>
              <a:srgbClr val="00D6A3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95F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2029968" y="1691640"/>
            <a:ext cx="50292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029968" y="2011680"/>
            <a:ext cx="502920" cy="438912"/>
          </a:xfrm>
          <a:prstGeom prst="roundRect">
            <a:avLst/>
          </a:prstGeom>
          <a:solidFill>
            <a:srgbClr val="111C2E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2029968" y="2532888"/>
            <a:ext cx="502920" cy="438912"/>
          </a:xfrm>
          <a:prstGeom prst="roundRect">
            <a:avLst/>
          </a:prstGeom>
          <a:solidFill>
            <a:srgbClr val="111C2E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2029968" y="3227832"/>
            <a:ext cx="502920" cy="438912"/>
          </a:xfrm>
          <a:prstGeom prst="roundRect">
            <a:avLst/>
          </a:prstGeom>
          <a:solidFill>
            <a:srgbClr val="17243A"/>
          </a:solidFill>
          <a:ln w="12700">
            <a:solidFill>
              <a:srgbClr val="00D6A3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95F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2596896" y="1691640"/>
            <a:ext cx="50292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596896" y="2011680"/>
            <a:ext cx="502920" cy="438912"/>
          </a:xfrm>
          <a:prstGeom prst="roundRect">
            <a:avLst/>
          </a:prstGeom>
          <a:solidFill>
            <a:srgbClr val="111C2E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2596896" y="2532888"/>
            <a:ext cx="502920" cy="438912"/>
          </a:xfrm>
          <a:prstGeom prst="roundRect">
            <a:avLst/>
          </a:prstGeom>
          <a:solidFill>
            <a:srgbClr val="111C2E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2596896" y="3227832"/>
            <a:ext cx="502920" cy="438912"/>
          </a:xfrm>
          <a:prstGeom prst="roundRect">
            <a:avLst/>
          </a:prstGeom>
          <a:solidFill>
            <a:srgbClr val="17243A"/>
          </a:solidFill>
          <a:ln w="12700">
            <a:solidFill>
              <a:srgbClr val="00D6A3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95F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3163824" y="1691640"/>
            <a:ext cx="50292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163824" y="2011680"/>
            <a:ext cx="502920" cy="438912"/>
          </a:xfrm>
          <a:prstGeom prst="roundRect">
            <a:avLst/>
          </a:prstGeom>
          <a:solidFill>
            <a:srgbClr val="111C2E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3163824" y="2532888"/>
            <a:ext cx="502920" cy="438912"/>
          </a:xfrm>
          <a:prstGeom prst="roundRect">
            <a:avLst/>
          </a:prstGeom>
          <a:solidFill>
            <a:srgbClr val="111C2E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3163824" y="3227832"/>
            <a:ext cx="502920" cy="438912"/>
          </a:xfrm>
          <a:prstGeom prst="roundRect">
            <a:avLst/>
          </a:prstGeom>
          <a:solidFill>
            <a:srgbClr val="17243A"/>
          </a:solidFill>
          <a:ln w="12700">
            <a:solidFill>
              <a:srgbClr val="00D6A3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95F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069848" y="2569464"/>
            <a:ext cx="27432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931920" y="3319272"/>
            <a:ext cx="91440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B5C4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03520" y="1463040"/>
            <a:ext cx="5029200" cy="1078992"/>
          </a:xfrm>
          <a:prstGeom prst="roundRect">
            <a:avLst/>
          </a:prstGeom>
          <a:solidFill>
            <a:srgbClr val="20324F"/>
          </a:solidFill>
          <a:ln w="13970">
            <a:solidFill>
              <a:srgbClr val="FFC857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1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+ 1 = 10  →  escribo 0 y llevo 1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303520" y="2788920"/>
            <a:ext cx="5029200" cy="1078992"/>
          </a:xfrm>
          <a:prstGeom prst="roundRect">
            <a:avLst/>
          </a:prstGeom>
          <a:solidFill>
            <a:srgbClr val="20324F"/>
          </a:solidFill>
          <a:ln w="13970">
            <a:solidFill>
              <a:srgbClr val="FFC857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2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+ 0 + el 1 que llevaba = 10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303520" y="4114800"/>
            <a:ext cx="5029200" cy="1078992"/>
          </a:xfrm>
          <a:prstGeom prst="roundRect">
            <a:avLst/>
          </a:prstGeom>
          <a:solidFill>
            <a:srgbClr val="13283B"/>
          </a:solidFill>
          <a:ln w="13970">
            <a:solidFill>
              <a:srgbClr val="00D6A3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0011 + 0001 = 0100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214884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5F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987552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“me llevo 1” también existe en el hardware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652760" y="201168"/>
            <a:ext cx="868680" cy="301752"/>
          </a:xfrm>
          <a:prstGeom prst="roundRect">
            <a:avLst/>
          </a:prstGeom>
          <a:solidFill>
            <a:srgbClr val="17243A"/>
          </a:solidFill>
          <a:ln>
            <a:solidFill>
              <a:srgbClr val="00D6A3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6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567160" y="201168"/>
            <a:ext cx="411480" cy="301752"/>
          </a:xfrm>
          <a:prstGeom prst="roundRect">
            <a:avLst/>
          </a:prstGeom>
          <a:solidFill>
            <a:srgbClr val="17243A"/>
          </a:solidFill>
          <a:ln>
            <a:solidFill>
              <a:srgbClr val="FFC857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6345936"/>
            <a:ext cx="640080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7F9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Matemáticas sin miedo  →  bits  →  circuitos  →  CPU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1234440"/>
            <a:ext cx="329184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cuaderno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1737360"/>
            <a:ext cx="2560320" cy="2286000"/>
          </a:xfrm>
          <a:prstGeom prst="roundRect">
            <a:avLst/>
          </a:prstGeom>
          <a:solidFill>
            <a:srgbClr val="1B2C48"/>
          </a:solidFill>
          <a:ln w="12700">
            <a:solidFill>
              <a:srgbClr val="FFC85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1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+ 1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20624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5C4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166360" y="1234440"/>
            <a:ext cx="402336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 CPU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257800" y="1874520"/>
            <a:ext cx="1051560" cy="685800"/>
          </a:xfrm>
          <a:prstGeom prst="roundRect">
            <a:avLst/>
          </a:prstGeom>
          <a:solidFill>
            <a:srgbClr val="20324F"/>
          </a:solidFill>
          <a:ln w="13970">
            <a:solidFill>
              <a:srgbClr val="263956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A=1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257800" y="2834640"/>
            <a:ext cx="1051560" cy="685800"/>
          </a:xfrm>
          <a:prstGeom prst="roundRect">
            <a:avLst/>
          </a:prstGeom>
          <a:solidFill>
            <a:srgbClr val="20324F"/>
          </a:solidFill>
          <a:ln w="13970">
            <a:solidFill>
              <a:srgbClr val="263956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B=1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858000" y="2057400"/>
            <a:ext cx="1828800" cy="1234440"/>
          </a:xfrm>
          <a:prstGeom prst="roundRect">
            <a:avLst/>
          </a:prstGeom>
          <a:solidFill>
            <a:srgbClr val="13283B"/>
          </a:solidFill>
          <a:ln w="13970">
            <a:solidFill>
              <a:srgbClr val="00D6A3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SUMADOR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189720" y="1874520"/>
            <a:ext cx="1325880" cy="685800"/>
          </a:xfrm>
          <a:prstGeom prst="roundRect">
            <a:avLst/>
          </a:prstGeom>
          <a:solidFill>
            <a:srgbClr val="20324F"/>
          </a:solidFill>
          <a:ln w="13970">
            <a:solidFill>
              <a:srgbClr val="00D6A3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SUM=0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89720" y="2834640"/>
            <a:ext cx="1325880" cy="685800"/>
          </a:xfrm>
          <a:prstGeom prst="roundRect">
            <a:avLst/>
          </a:prstGeom>
          <a:solidFill>
            <a:srgbClr val="20324F"/>
          </a:solidFill>
          <a:ln w="13970">
            <a:solidFill>
              <a:srgbClr val="FFC857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CARRY=1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965960" y="4800600"/>
            <a:ext cx="8138160" cy="658368"/>
          </a:xfrm>
          <a:prstGeom prst="roundRect">
            <a:avLst/>
          </a:prstGeom>
          <a:solidFill>
            <a:srgbClr val="13283B"/>
          </a:solidFill>
          <a:ln w="13970">
            <a:solidFill>
              <a:srgbClr val="FFC857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 = el 1 que me llevo, pero convertido en una señal eléctrica.</a:t>
            </a:r>
            <a:endParaRPr lang="en-US" sz="2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214884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5F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987552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Dentro de la CPU: la ALU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652760" y="201168"/>
            <a:ext cx="868680" cy="301752"/>
          </a:xfrm>
          <a:prstGeom prst="roundRect">
            <a:avLst/>
          </a:prstGeom>
          <a:solidFill>
            <a:srgbClr val="17243A"/>
          </a:solidFill>
          <a:ln>
            <a:solidFill>
              <a:srgbClr val="00D6A3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6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567160" y="201168"/>
            <a:ext cx="411480" cy="301752"/>
          </a:xfrm>
          <a:prstGeom prst="roundRect">
            <a:avLst/>
          </a:prstGeom>
          <a:solidFill>
            <a:srgbClr val="17243A"/>
          </a:solidFill>
          <a:ln>
            <a:solidFill>
              <a:srgbClr val="FFC857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6345936"/>
            <a:ext cx="640080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7F9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Matemáticas sin miedo  →  bits  →  circuitos  →  CPU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1417320"/>
            <a:ext cx="3657600" cy="1280160"/>
          </a:xfrm>
          <a:prstGeom prst="roundRect">
            <a:avLst/>
          </a:prstGeom>
          <a:solidFill>
            <a:srgbClr val="13283B"/>
          </a:solidFill>
          <a:ln w="13970">
            <a:solidFill>
              <a:srgbClr val="66B2FF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28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procesador del ordenador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188720" y="3063240"/>
            <a:ext cx="1920240" cy="749808"/>
          </a:xfrm>
          <a:prstGeom prst="roundRect">
            <a:avLst/>
          </a:prstGeom>
          <a:solidFill>
            <a:srgbClr val="20324F"/>
          </a:solidFill>
          <a:ln w="13970">
            <a:solidFill>
              <a:srgbClr val="263956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pequeños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337560" y="3063240"/>
            <a:ext cx="1920240" cy="749808"/>
          </a:xfrm>
          <a:prstGeom prst="roundRect">
            <a:avLst/>
          </a:prstGeom>
          <a:solidFill>
            <a:srgbClr val="20324F"/>
          </a:solidFill>
          <a:ln w="13970">
            <a:solidFill>
              <a:srgbClr val="263956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de control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35040" y="2377440"/>
            <a:ext cx="2423160" cy="1234440"/>
          </a:xfrm>
          <a:prstGeom prst="roundRect">
            <a:avLst/>
          </a:prstGeom>
          <a:solidFill>
            <a:srgbClr val="153244"/>
          </a:solidFill>
          <a:ln w="13970">
            <a:solidFill>
              <a:srgbClr val="00D6A3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28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suma, resta, compara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961120" y="1554480"/>
            <a:ext cx="1965960" cy="777240"/>
          </a:xfrm>
          <a:prstGeom prst="roundRect">
            <a:avLst/>
          </a:prstGeom>
          <a:solidFill>
            <a:srgbClr val="17243A"/>
          </a:solidFill>
          <a:ln w="13970">
            <a:solidFill>
              <a:srgbClr val="00D6A3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961120" y="2606040"/>
            <a:ext cx="1965960" cy="777240"/>
          </a:xfrm>
          <a:prstGeom prst="roundRect">
            <a:avLst/>
          </a:prstGeom>
          <a:solidFill>
            <a:srgbClr val="17243A"/>
          </a:solidFill>
          <a:ln w="13970">
            <a:solidFill>
              <a:srgbClr val="00D6A3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961120" y="3657600"/>
            <a:ext cx="1965960" cy="777240"/>
          </a:xfrm>
          <a:prstGeom prst="roundRect">
            <a:avLst/>
          </a:prstGeom>
          <a:solidFill>
            <a:srgbClr val="17243A"/>
          </a:solidFill>
          <a:ln w="13970">
            <a:solidFill>
              <a:srgbClr val="00D6A3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/ OR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961120" y="4709160"/>
            <a:ext cx="1965960" cy="777240"/>
          </a:xfrm>
          <a:prstGeom prst="roundRect">
            <a:avLst/>
          </a:prstGeom>
          <a:solidFill>
            <a:srgbClr val="17243A"/>
          </a:solidFill>
          <a:ln w="13970">
            <a:solidFill>
              <a:srgbClr val="00D6A3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Comparar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5074920"/>
            <a:ext cx="676656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ALU aplica las reglas binarias usando circuitos electrónicos.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214884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5F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Sumadores encadenados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987552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un bit a un byte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652760" y="201168"/>
            <a:ext cx="868680" cy="301752"/>
          </a:xfrm>
          <a:prstGeom prst="roundRect">
            <a:avLst/>
          </a:prstGeom>
          <a:solidFill>
            <a:srgbClr val="17243A"/>
          </a:solidFill>
          <a:ln>
            <a:solidFill>
              <a:srgbClr val="00D6A3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6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567160" y="201168"/>
            <a:ext cx="411480" cy="301752"/>
          </a:xfrm>
          <a:prstGeom prst="roundRect">
            <a:avLst/>
          </a:prstGeom>
          <a:solidFill>
            <a:srgbClr val="17243A"/>
          </a:solidFill>
          <a:ln>
            <a:solidFill>
              <a:srgbClr val="FFC857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6345936"/>
            <a:ext cx="640080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7F9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Matemáticas sin miedo  →  bits  →  circuitos  →  CPU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1371600"/>
            <a:ext cx="91440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5F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bit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32688" y="1783080"/>
            <a:ext cx="777240" cy="640080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00D6A3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5F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743200" y="1371600"/>
            <a:ext cx="292608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bits = 1 byte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560320" y="1783080"/>
            <a:ext cx="457200" cy="475488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127248" y="1783080"/>
            <a:ext cx="457200" cy="475488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94176" y="1783080"/>
            <a:ext cx="457200" cy="475488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261104" y="1783080"/>
            <a:ext cx="457200" cy="475488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28032" y="1783080"/>
            <a:ext cx="457200" cy="475488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94960" y="1783080"/>
            <a:ext cx="457200" cy="475488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961888" y="1783080"/>
            <a:ext cx="457200" cy="475488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28816" y="1783080"/>
            <a:ext cx="457200" cy="475488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" y="3063240"/>
            <a:ext cx="96012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sumar 8 bits, el procesador encadena varios sumadores.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60120" y="4023360"/>
            <a:ext cx="1078992" cy="777240"/>
          </a:xfrm>
          <a:prstGeom prst="roundRect">
            <a:avLst/>
          </a:prstGeom>
          <a:solidFill>
            <a:srgbClr val="13283B"/>
          </a:solidFill>
          <a:ln w="13970">
            <a:solidFill>
              <a:srgbClr val="00D6A3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 0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167128" y="4261104"/>
            <a:ext cx="201168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514600" y="4023360"/>
            <a:ext cx="1078992" cy="777240"/>
          </a:xfrm>
          <a:prstGeom prst="roundRect">
            <a:avLst/>
          </a:prstGeom>
          <a:solidFill>
            <a:srgbClr val="13283B"/>
          </a:solidFill>
          <a:ln w="13970">
            <a:solidFill>
              <a:srgbClr val="00D6A3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 1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721608" y="4261104"/>
            <a:ext cx="201168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069080" y="4023360"/>
            <a:ext cx="1078992" cy="777240"/>
          </a:xfrm>
          <a:prstGeom prst="roundRect">
            <a:avLst/>
          </a:prstGeom>
          <a:solidFill>
            <a:srgbClr val="13283B"/>
          </a:solidFill>
          <a:ln w="13970">
            <a:solidFill>
              <a:srgbClr val="00D6A3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 2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276088" y="4261104"/>
            <a:ext cx="201168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23560" y="4023360"/>
            <a:ext cx="1078992" cy="777240"/>
          </a:xfrm>
          <a:prstGeom prst="roundRect">
            <a:avLst/>
          </a:prstGeom>
          <a:solidFill>
            <a:srgbClr val="13283B"/>
          </a:solidFill>
          <a:ln w="13970">
            <a:solidFill>
              <a:srgbClr val="00D6A3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 3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30568" y="4261104"/>
            <a:ext cx="201168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78040" y="4023360"/>
            <a:ext cx="1078992" cy="777240"/>
          </a:xfrm>
          <a:prstGeom prst="roundRect">
            <a:avLst/>
          </a:prstGeom>
          <a:solidFill>
            <a:srgbClr val="13283B"/>
          </a:solidFill>
          <a:ln w="13970">
            <a:solidFill>
              <a:srgbClr val="263956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385048" y="4261104"/>
            <a:ext cx="201168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732520" y="4023360"/>
            <a:ext cx="1078992" cy="777240"/>
          </a:xfrm>
          <a:prstGeom prst="roundRect">
            <a:avLst/>
          </a:prstGeom>
          <a:solidFill>
            <a:srgbClr val="13283B"/>
          </a:solidFill>
          <a:ln w="13970">
            <a:solidFill>
              <a:srgbClr val="00D6A3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 7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214884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5F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Hexadecimal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987552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aparece el hexadecimal?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652760" y="201168"/>
            <a:ext cx="868680" cy="301752"/>
          </a:xfrm>
          <a:prstGeom prst="roundRect">
            <a:avLst/>
          </a:prstGeom>
          <a:solidFill>
            <a:srgbClr val="17243A"/>
          </a:solidFill>
          <a:ln>
            <a:solidFill>
              <a:srgbClr val="00D6A3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6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567160" y="201168"/>
            <a:ext cx="411480" cy="301752"/>
          </a:xfrm>
          <a:prstGeom prst="roundRect">
            <a:avLst/>
          </a:prstGeom>
          <a:solidFill>
            <a:srgbClr val="17243A"/>
          </a:solidFill>
          <a:ln>
            <a:solidFill>
              <a:srgbClr val="FFC857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6345936"/>
            <a:ext cx="640080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7F9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Matemáticas sin miedo  →  bits  →  circuitos  →  CPU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7406640" cy="658368"/>
          </a:xfrm>
          <a:prstGeom prst="roundRect">
            <a:avLst/>
          </a:prstGeom>
          <a:solidFill>
            <a:srgbClr val="1B2C48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111111101010110011010001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77240" y="2423160"/>
            <a:ext cx="758952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B5C4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Esto es correcto, pero es incómodo para una persona.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377440" y="3337560"/>
            <a:ext cx="2926080" cy="841248"/>
          </a:xfrm>
          <a:prstGeom prst="roundRect">
            <a:avLst/>
          </a:prstGeom>
          <a:solidFill>
            <a:srgbClr val="13283B"/>
          </a:solidFill>
          <a:ln w="12700">
            <a:solidFill>
              <a:srgbClr val="FFC85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FEACD1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097280" y="4389120"/>
            <a:ext cx="53949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Mucho más corto de leer y escribir.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458200" y="1554480"/>
            <a:ext cx="2423160" cy="3200400"/>
          </a:xfrm>
          <a:prstGeom prst="roundRect">
            <a:avLst/>
          </a:prstGeom>
          <a:solidFill>
            <a:srgbClr val="13283B"/>
          </a:solidFill>
          <a:ln w="13970">
            <a:solidFill>
              <a:srgbClr val="95FFE0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hardware trabaja con bits.</a:t>
            </a:r>
            <a:endParaRPr lang="en-US" sz="2100" dirty="0"/>
          </a:p>
          <a:p>
            <a:pPr algn="ctr" indent="0" marL="0">
              <a:buNone/>
            </a:pP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personas usamos hexadecimal para leer esos bits de forma compacta.</a:t>
            </a:r>
            <a:endParaRPr lang="en-US" sz="2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214884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5F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Hexadecimal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987552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Hexadecimal: contar con 16 símbolos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652760" y="201168"/>
            <a:ext cx="868680" cy="301752"/>
          </a:xfrm>
          <a:prstGeom prst="roundRect">
            <a:avLst/>
          </a:prstGeom>
          <a:solidFill>
            <a:srgbClr val="17243A"/>
          </a:solidFill>
          <a:ln>
            <a:solidFill>
              <a:srgbClr val="00D6A3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6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567160" y="201168"/>
            <a:ext cx="411480" cy="301752"/>
          </a:xfrm>
          <a:prstGeom prst="roundRect">
            <a:avLst/>
          </a:prstGeom>
          <a:solidFill>
            <a:srgbClr val="17243A"/>
          </a:solidFill>
          <a:ln>
            <a:solidFill>
              <a:srgbClr val="FFC857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6345936"/>
            <a:ext cx="640080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7F9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Matemáticas sin miedo  →  bits  →  circuitos  →  CPU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1188720"/>
            <a:ext cx="438912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decimal usamos 10 símbolos: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1737360"/>
            <a:ext cx="457200" cy="475488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89888" y="1737360"/>
            <a:ext cx="457200" cy="475488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911096" y="1737360"/>
            <a:ext cx="457200" cy="475488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432304" y="1737360"/>
            <a:ext cx="457200" cy="475488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953512" y="1737360"/>
            <a:ext cx="457200" cy="475488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74720" y="1737360"/>
            <a:ext cx="457200" cy="475488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995928" y="1737360"/>
            <a:ext cx="457200" cy="475488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17136" y="1737360"/>
            <a:ext cx="457200" cy="475488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038344" y="1737360"/>
            <a:ext cx="457200" cy="475488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559552" y="1737360"/>
            <a:ext cx="457200" cy="475488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77240" y="2880360"/>
            <a:ext cx="475488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0D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hexadecimal usamos 16 símbolos: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594360" y="3429000"/>
            <a:ext cx="457200" cy="475488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70432" y="3429000"/>
            <a:ext cx="457200" cy="475488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746504" y="3429000"/>
            <a:ext cx="457200" cy="475488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322576" y="3429000"/>
            <a:ext cx="457200" cy="475488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898648" y="3429000"/>
            <a:ext cx="457200" cy="475488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474720" y="3429000"/>
            <a:ext cx="457200" cy="475488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050792" y="3429000"/>
            <a:ext cx="457200" cy="475488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626864" y="3429000"/>
            <a:ext cx="457200" cy="475488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202936" y="3429000"/>
            <a:ext cx="457200" cy="475488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779008" y="3429000"/>
            <a:ext cx="457200" cy="475488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355080" y="3429000"/>
            <a:ext cx="457200" cy="475488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931152" y="3429000"/>
            <a:ext cx="457200" cy="475488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507224" y="3429000"/>
            <a:ext cx="457200" cy="475488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083296" y="3429000"/>
            <a:ext cx="457200" cy="475488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659368" y="3429000"/>
            <a:ext cx="457200" cy="475488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235440" y="3429000"/>
            <a:ext cx="457200" cy="475488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051560" y="4800600"/>
            <a:ext cx="3931920" cy="777240"/>
          </a:xfrm>
          <a:prstGeom prst="roundRect">
            <a:avLst/>
          </a:prstGeom>
          <a:solidFill>
            <a:srgbClr val="20324F"/>
          </a:solidFill>
          <a:ln w="13970">
            <a:solidFill>
              <a:srgbClr val="263956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A=10   B=11   C=12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5349240" y="4800600"/>
            <a:ext cx="3931920" cy="777240"/>
          </a:xfrm>
          <a:prstGeom prst="roundRect">
            <a:avLst/>
          </a:prstGeom>
          <a:solidFill>
            <a:srgbClr val="20324F"/>
          </a:solidFill>
          <a:ln w="13970">
            <a:solidFill>
              <a:srgbClr val="263956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D=13   E=14   F=15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214884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5F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Binario ↔ Hex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987552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relación útil: 4 bits = 1 cifra hexadecimal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652760" y="201168"/>
            <a:ext cx="868680" cy="301752"/>
          </a:xfrm>
          <a:prstGeom prst="roundRect">
            <a:avLst/>
          </a:prstGeom>
          <a:solidFill>
            <a:srgbClr val="17243A"/>
          </a:solidFill>
          <a:ln>
            <a:solidFill>
              <a:srgbClr val="00D6A3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6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567160" y="201168"/>
            <a:ext cx="411480" cy="301752"/>
          </a:xfrm>
          <a:prstGeom prst="roundRect">
            <a:avLst/>
          </a:prstGeom>
          <a:solidFill>
            <a:srgbClr val="17243A"/>
          </a:solidFill>
          <a:ln>
            <a:solidFill>
              <a:srgbClr val="FFC857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6345936"/>
            <a:ext cx="640080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7F9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Matemáticas sin miedo  →  bits  →  circuitos  →  CPU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170432"/>
            <a:ext cx="969264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bloque de 4 bits se resume en una cifra hexadecimal.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" cy="493776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01368" y="1975104"/>
            <a:ext cx="22860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B5C4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103120" y="1874520"/>
            <a:ext cx="384048" cy="493776"/>
          </a:xfrm>
          <a:prstGeom prst="roundRect">
            <a:avLst/>
          </a:prstGeom>
          <a:solidFill>
            <a:srgbClr val="13283B"/>
          </a:solidFill>
          <a:ln w="12700">
            <a:solidFill>
              <a:srgbClr val="FFC85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514600" y="1874520"/>
            <a:ext cx="1078992" cy="493776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30168" y="1975104"/>
            <a:ext cx="22860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B5C4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931920" y="1874520"/>
            <a:ext cx="384048" cy="493776"/>
          </a:xfrm>
          <a:prstGeom prst="roundRect">
            <a:avLst/>
          </a:prstGeom>
          <a:solidFill>
            <a:srgbClr val="13283B"/>
          </a:solidFill>
          <a:ln w="12700">
            <a:solidFill>
              <a:srgbClr val="FFC85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343400" y="1874520"/>
            <a:ext cx="1078992" cy="493776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0010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58968" y="1975104"/>
            <a:ext cx="22860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B5C4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760720" y="1874520"/>
            <a:ext cx="384048" cy="493776"/>
          </a:xfrm>
          <a:prstGeom prst="roundRect">
            <a:avLst/>
          </a:prstGeom>
          <a:solidFill>
            <a:srgbClr val="13283B"/>
          </a:solidFill>
          <a:ln w="12700">
            <a:solidFill>
              <a:srgbClr val="FFC85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172200" y="1874520"/>
            <a:ext cx="1078992" cy="493776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0011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287768" y="1975104"/>
            <a:ext cx="22860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B5C4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589520" y="1874520"/>
            <a:ext cx="384048" cy="493776"/>
          </a:xfrm>
          <a:prstGeom prst="roundRect">
            <a:avLst/>
          </a:prstGeom>
          <a:solidFill>
            <a:srgbClr val="13283B"/>
          </a:solidFill>
          <a:ln w="12700">
            <a:solidFill>
              <a:srgbClr val="FFC85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001000" y="1874520"/>
            <a:ext cx="1078992" cy="493776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1001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116568" y="1975104"/>
            <a:ext cx="22860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B5C4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418320" y="1874520"/>
            <a:ext cx="384048" cy="493776"/>
          </a:xfrm>
          <a:prstGeom prst="roundRect">
            <a:avLst/>
          </a:prstGeom>
          <a:solidFill>
            <a:srgbClr val="13283B"/>
          </a:solidFill>
          <a:ln w="12700">
            <a:solidFill>
              <a:srgbClr val="FFC85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829800" y="1874520"/>
            <a:ext cx="1078992" cy="493776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1010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945368" y="1975104"/>
            <a:ext cx="22860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B5C4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247120" y="1874520"/>
            <a:ext cx="384048" cy="493776"/>
          </a:xfrm>
          <a:prstGeom prst="roundRect">
            <a:avLst/>
          </a:prstGeom>
          <a:solidFill>
            <a:srgbClr val="13283B"/>
          </a:solidFill>
          <a:ln w="12700">
            <a:solidFill>
              <a:srgbClr val="FFC85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85800" y="3291840"/>
            <a:ext cx="1078992" cy="493776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1011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801368" y="3392424"/>
            <a:ext cx="22860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B5C4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2103120" y="3291840"/>
            <a:ext cx="384048" cy="493776"/>
          </a:xfrm>
          <a:prstGeom prst="roundRect">
            <a:avLst/>
          </a:prstGeom>
          <a:solidFill>
            <a:srgbClr val="13283B"/>
          </a:solidFill>
          <a:ln w="12700">
            <a:solidFill>
              <a:srgbClr val="FFC85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2514600" y="3291840"/>
            <a:ext cx="1078992" cy="493776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1100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630168" y="3392424"/>
            <a:ext cx="22860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B5C4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931920" y="3291840"/>
            <a:ext cx="384048" cy="493776"/>
          </a:xfrm>
          <a:prstGeom prst="roundRect">
            <a:avLst/>
          </a:prstGeom>
          <a:solidFill>
            <a:srgbClr val="13283B"/>
          </a:solidFill>
          <a:ln w="12700">
            <a:solidFill>
              <a:srgbClr val="FFC85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343400" y="3291840"/>
            <a:ext cx="1078992" cy="493776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1101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458968" y="3392424"/>
            <a:ext cx="22860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B5C4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760720" y="3291840"/>
            <a:ext cx="384048" cy="493776"/>
          </a:xfrm>
          <a:prstGeom prst="roundRect">
            <a:avLst/>
          </a:prstGeom>
          <a:solidFill>
            <a:srgbClr val="13283B"/>
          </a:solidFill>
          <a:ln w="12700">
            <a:solidFill>
              <a:srgbClr val="FFC85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172200" y="3291840"/>
            <a:ext cx="1078992" cy="493776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1110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287768" y="3392424"/>
            <a:ext cx="22860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B5C4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589520" y="3291840"/>
            <a:ext cx="384048" cy="493776"/>
          </a:xfrm>
          <a:prstGeom prst="roundRect">
            <a:avLst/>
          </a:prstGeom>
          <a:solidFill>
            <a:srgbClr val="13283B"/>
          </a:solidFill>
          <a:ln w="12700">
            <a:solidFill>
              <a:srgbClr val="FFC85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8001000" y="3291840"/>
            <a:ext cx="1078992" cy="493776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1111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9116568" y="3392424"/>
            <a:ext cx="22860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B5C4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9418320" y="3291840"/>
            <a:ext cx="384048" cy="493776"/>
          </a:xfrm>
          <a:prstGeom prst="roundRect">
            <a:avLst/>
          </a:prstGeom>
          <a:solidFill>
            <a:srgbClr val="13283B"/>
          </a:solidFill>
          <a:ln w="12700">
            <a:solidFill>
              <a:srgbClr val="FFC85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3063240" y="4983480"/>
            <a:ext cx="4800600" cy="658368"/>
          </a:xfrm>
          <a:prstGeom prst="roundRect">
            <a:avLst/>
          </a:prstGeom>
          <a:solidFill>
            <a:srgbClr val="13283B"/>
          </a:solidFill>
          <a:ln w="12700">
            <a:solidFill>
              <a:srgbClr val="95FFE0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5F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1111 1010  =  FA</a:t>
            </a:r>
            <a:endParaRPr 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214884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5F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Suma hexadecimal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987552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Sumar hexadecimal: misma idea, más símbolos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652760" y="201168"/>
            <a:ext cx="868680" cy="301752"/>
          </a:xfrm>
          <a:prstGeom prst="roundRect">
            <a:avLst/>
          </a:prstGeom>
          <a:solidFill>
            <a:srgbClr val="17243A"/>
          </a:solidFill>
          <a:ln>
            <a:solidFill>
              <a:srgbClr val="00D6A3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6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567160" y="201168"/>
            <a:ext cx="411480" cy="301752"/>
          </a:xfrm>
          <a:prstGeom prst="roundRect">
            <a:avLst/>
          </a:prstGeom>
          <a:solidFill>
            <a:srgbClr val="17243A"/>
          </a:solidFill>
          <a:ln>
            <a:solidFill>
              <a:srgbClr val="FFC857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6345936"/>
            <a:ext cx="640080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7F9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Matemáticas sin miedo  →  bits  →  circuitos  →  CPU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" y="1371600"/>
            <a:ext cx="210312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decimal: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1874520"/>
            <a:ext cx="3108960" cy="777240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FFC85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+ 1 = 10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97280" y="3063240"/>
            <a:ext cx="25146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D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hexadecimal: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3566160"/>
            <a:ext cx="3108960" cy="777240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00D6A3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6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+ 1 = 10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074920" y="1508760"/>
            <a:ext cx="4800600" cy="1097280"/>
          </a:xfrm>
          <a:prstGeom prst="roundRect">
            <a:avLst/>
          </a:prstGeom>
          <a:solidFill>
            <a:srgbClr val="13283B"/>
          </a:solidFill>
          <a:ln w="13970">
            <a:solidFill>
              <a:srgbClr val="95FFE0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quedan símbolos después de F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eso se cambia de columna.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623560" y="3154680"/>
            <a:ext cx="3108960" cy="1828800"/>
          </a:xfrm>
          <a:prstGeom prst="roundRect">
            <a:avLst/>
          </a:prstGeom>
          <a:solidFill>
            <a:srgbClr val="1B2C48"/>
          </a:solidFill>
          <a:ln w="12700">
            <a:solidFill>
              <a:srgbClr val="FFC85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1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1F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+ 01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20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074920" y="5257800"/>
            <a:ext cx="484632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 + 1 = 10  →  escribo 0 y llevo 1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214884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5F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FHW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987552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misma suma vista en binario y en hexadecimal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652760" y="201168"/>
            <a:ext cx="868680" cy="301752"/>
          </a:xfrm>
          <a:prstGeom prst="roundRect">
            <a:avLst/>
          </a:prstGeom>
          <a:solidFill>
            <a:srgbClr val="17243A"/>
          </a:solidFill>
          <a:ln>
            <a:solidFill>
              <a:srgbClr val="00D6A3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6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567160" y="201168"/>
            <a:ext cx="411480" cy="301752"/>
          </a:xfrm>
          <a:prstGeom prst="roundRect">
            <a:avLst/>
          </a:prstGeom>
          <a:solidFill>
            <a:srgbClr val="17243A"/>
          </a:solidFill>
          <a:ln>
            <a:solidFill>
              <a:srgbClr val="FFC857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6345936"/>
            <a:ext cx="640080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7F9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Matemáticas sin miedo  →  bits  →  circuitos  →  CPU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234440"/>
            <a:ext cx="45720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hardware opera con bits.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1737360"/>
            <a:ext cx="3977640" cy="2194560"/>
          </a:xfrm>
          <a:prstGeom prst="roundRect">
            <a:avLst/>
          </a:prstGeom>
          <a:solidFill>
            <a:srgbClr val="1B2C48"/>
          </a:solidFill>
          <a:ln w="12700">
            <a:solidFill>
              <a:srgbClr val="00D6A3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0011 1100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+0001 0010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─────────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0100 1110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715000" y="1234440"/>
            <a:ext cx="475488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Nosotros lo leemos más cómodo en hexadecimal.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89320" y="1737360"/>
            <a:ext cx="3291840" cy="2194560"/>
          </a:xfrm>
          <a:prstGeom prst="roundRect">
            <a:avLst/>
          </a:prstGeom>
          <a:solidFill>
            <a:srgbClr val="1B2C48"/>
          </a:solidFill>
          <a:ln w="12700">
            <a:solidFill>
              <a:srgbClr val="FFC85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3C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+ 12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4E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788920" y="4480560"/>
            <a:ext cx="5760720" cy="749808"/>
          </a:xfrm>
          <a:prstGeom prst="roundRect">
            <a:avLst/>
          </a:prstGeom>
          <a:solidFill>
            <a:srgbClr val="13283B"/>
          </a:solidFill>
          <a:ln w="12700">
            <a:solidFill>
              <a:srgbClr val="95FFE0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5F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0x3C + 0x12 = 0x4E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926080" y="5440680"/>
            <a:ext cx="548640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B5C4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0x significa: “esto está escrito en hexadecimal”.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214884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5F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987552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el resultado no cabe: desbordamiento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652760" y="201168"/>
            <a:ext cx="868680" cy="301752"/>
          </a:xfrm>
          <a:prstGeom prst="roundRect">
            <a:avLst/>
          </a:prstGeom>
          <a:solidFill>
            <a:srgbClr val="17243A"/>
          </a:solidFill>
          <a:ln>
            <a:solidFill>
              <a:srgbClr val="00D6A3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6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567160" y="201168"/>
            <a:ext cx="411480" cy="301752"/>
          </a:xfrm>
          <a:prstGeom prst="roundRect">
            <a:avLst/>
          </a:prstGeom>
          <a:solidFill>
            <a:srgbClr val="17243A"/>
          </a:solidFill>
          <a:ln>
            <a:solidFill>
              <a:srgbClr val="FFC857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6345936"/>
            <a:ext cx="640080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7F9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Matemáticas sin miedo  →  bits  →  circuitos  →  CPU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1234440"/>
            <a:ext cx="3108960" cy="960120"/>
          </a:xfrm>
          <a:prstGeom prst="roundRect">
            <a:avLst/>
          </a:prstGeom>
          <a:solidFill>
            <a:srgbClr val="13283B"/>
          </a:solidFill>
          <a:ln w="13970">
            <a:solidFill>
              <a:srgbClr val="66B2FF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de 8 bits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caben 8 casillas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457200" cy="475488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81328" y="2606040"/>
            <a:ext cx="457200" cy="475488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048256" y="2606040"/>
            <a:ext cx="457200" cy="475488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615184" y="2606040"/>
            <a:ext cx="457200" cy="475488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182112" y="2606040"/>
            <a:ext cx="457200" cy="475488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49040" y="2606040"/>
            <a:ext cx="457200" cy="475488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315968" y="2606040"/>
            <a:ext cx="457200" cy="475488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82896" y="2606040"/>
            <a:ext cx="457200" cy="475488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263956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441448"/>
            <a:ext cx="1463040" cy="777240"/>
          </a:xfrm>
          <a:prstGeom prst="roundRect">
            <a:avLst/>
          </a:prstGeom>
          <a:solidFill>
            <a:srgbClr val="20324F"/>
          </a:solidFill>
          <a:ln w="12700">
            <a:solidFill>
              <a:srgbClr val="FFC85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FF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1234440" y="3886200"/>
            <a:ext cx="4114800" cy="731520"/>
          </a:xfrm>
          <a:prstGeom prst="roundRect">
            <a:avLst/>
          </a:prstGeom>
          <a:solidFill>
            <a:srgbClr val="1B2C48"/>
          </a:solidFill>
          <a:ln w="12700">
            <a:solidFill>
              <a:srgbClr val="FFC85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FF + 01 = 100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5715000" y="3749040"/>
            <a:ext cx="4023360" cy="1051560"/>
          </a:xfrm>
          <a:prstGeom prst="roundRect">
            <a:avLst/>
          </a:prstGeom>
          <a:solidFill>
            <a:srgbClr val="20324F"/>
          </a:solidFill>
          <a:ln w="13970">
            <a:solidFill>
              <a:srgbClr val="FF6B8A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hexadecimal necesita 9 bits: 1 00000000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011680" y="5303520"/>
            <a:ext cx="7223760" cy="685800"/>
          </a:xfrm>
          <a:prstGeom prst="roundRect">
            <a:avLst/>
          </a:prstGeom>
          <a:solidFill>
            <a:srgbClr val="13283B"/>
          </a:solidFill>
          <a:ln w="13970">
            <a:solidFill>
              <a:srgbClr val="FF6B8A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el registro solo tiene 8 bits, el bit extra se sale: eso introduce la idea de overflow.</a:t>
            </a:r>
            <a:endParaRPr lang="en-US" sz="2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214884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5F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987552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para quedarse con la idea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652760" y="201168"/>
            <a:ext cx="868680" cy="301752"/>
          </a:xfrm>
          <a:prstGeom prst="roundRect">
            <a:avLst/>
          </a:prstGeom>
          <a:solidFill>
            <a:srgbClr val="17243A"/>
          </a:solidFill>
          <a:ln>
            <a:solidFill>
              <a:srgbClr val="00D6A3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6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567160" y="201168"/>
            <a:ext cx="411480" cy="301752"/>
          </a:xfrm>
          <a:prstGeom prst="roundRect">
            <a:avLst/>
          </a:prstGeom>
          <a:solidFill>
            <a:srgbClr val="17243A"/>
          </a:solidFill>
          <a:ln>
            <a:solidFill>
              <a:srgbClr val="FFC857">
                <a:alpha val="80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6345936"/>
            <a:ext cx="640080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7F9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Matemáticas sin miedo  →  bits  →  circuitos  →  CPU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1325880"/>
            <a:ext cx="502920" cy="475488"/>
          </a:xfrm>
          <a:prstGeom prst="roundRect">
            <a:avLst/>
          </a:prstGeom>
          <a:solidFill>
            <a:srgbClr val="00D6A3"/>
          </a:solidFill>
          <a:ln w="12700">
            <a:solidFill>
              <a:srgbClr val="00D6A3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54480" y="1298448"/>
            <a:ext cx="7909560" cy="530352"/>
          </a:xfrm>
          <a:prstGeom prst="roundRect">
            <a:avLst/>
          </a:prstGeom>
          <a:solidFill>
            <a:srgbClr val="17243A"/>
          </a:solidFill>
          <a:ln w="13970">
            <a:solidFill>
              <a:srgbClr val="263956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ordenador trabaja con 0 y 1 porque el hardware distingue dos estados.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2185416"/>
            <a:ext cx="502920" cy="475488"/>
          </a:xfrm>
          <a:prstGeom prst="roundRect">
            <a:avLst/>
          </a:prstGeom>
          <a:solidFill>
            <a:srgbClr val="FFC857"/>
          </a:solidFill>
          <a:ln w="12700">
            <a:solidFill>
              <a:srgbClr val="FFC85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54480" y="2157984"/>
            <a:ext cx="7909560" cy="530352"/>
          </a:xfrm>
          <a:prstGeom prst="roundRect">
            <a:avLst/>
          </a:prstGeom>
          <a:solidFill>
            <a:srgbClr val="17243A"/>
          </a:solidFill>
          <a:ln w="13970">
            <a:solidFill>
              <a:srgbClr val="263956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binario, 1 + 1 = 10: escribo 0 y llevo 1.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3044952"/>
            <a:ext cx="502920" cy="475488"/>
          </a:xfrm>
          <a:prstGeom prst="roundRect">
            <a:avLst/>
          </a:prstGeom>
          <a:solidFill>
            <a:srgbClr val="00D6A3"/>
          </a:solidFill>
          <a:ln w="12700">
            <a:solidFill>
              <a:srgbClr val="00D6A3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54480" y="3017520"/>
            <a:ext cx="7909560" cy="530352"/>
          </a:xfrm>
          <a:prstGeom prst="roundRect">
            <a:avLst/>
          </a:prstGeom>
          <a:solidFill>
            <a:srgbClr val="17243A"/>
          </a:solidFill>
          <a:ln w="13970">
            <a:solidFill>
              <a:srgbClr val="263956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 “me llevo 1” dentro de la CPU es una señal llamada carry.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8680" y="3904488"/>
            <a:ext cx="502920" cy="475488"/>
          </a:xfrm>
          <a:prstGeom prst="roundRect">
            <a:avLst/>
          </a:prstGeom>
          <a:solidFill>
            <a:srgbClr val="FFC857"/>
          </a:solidFill>
          <a:ln w="12700">
            <a:solidFill>
              <a:srgbClr val="FFC85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54480" y="3877056"/>
            <a:ext cx="7909560" cy="530352"/>
          </a:xfrm>
          <a:prstGeom prst="roundRect">
            <a:avLst/>
          </a:prstGeom>
          <a:solidFill>
            <a:srgbClr val="17243A"/>
          </a:solidFill>
          <a:ln w="13970">
            <a:solidFill>
              <a:srgbClr val="263956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ALU usa sumadores para hacer operaciones con bits.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68680" y="4764024"/>
            <a:ext cx="502920" cy="475488"/>
          </a:xfrm>
          <a:prstGeom prst="roundRect">
            <a:avLst/>
          </a:prstGeom>
          <a:solidFill>
            <a:srgbClr val="00D6A3"/>
          </a:solidFill>
          <a:ln w="12700">
            <a:solidFill>
              <a:srgbClr val="00D6A3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3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554480" y="4736592"/>
            <a:ext cx="7909560" cy="530352"/>
          </a:xfrm>
          <a:prstGeom prst="roundRect">
            <a:avLst/>
          </a:prstGeom>
          <a:solidFill>
            <a:srgbClr val="17243A"/>
          </a:solidFill>
          <a:ln w="13970">
            <a:solidFill>
              <a:srgbClr val="263956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Hexadecimal resume grupos de 4 bits para que las personas podamos leerlos mejor.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743200" y="5669280"/>
            <a:ext cx="5303520" cy="502920"/>
          </a:xfrm>
          <a:prstGeom prst="roundRect">
            <a:avLst/>
          </a:prstGeom>
          <a:solidFill>
            <a:srgbClr val="13283B"/>
          </a:solidFill>
          <a:ln w="12700">
            <a:solidFill>
              <a:srgbClr val="95FFE0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5F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MATEMÁTICAS → HARDWARE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Cómo suma un ordenador</dc:title>
  <dc:subject>FHW 1º ASIR - Suma binaria y hexadecimal</dc:subject>
  <dc:creator>OpenAI</dc:creator>
  <cp:lastModifiedBy>OpenAI</cp:lastModifiedBy>
  <cp:revision>1</cp:revision>
  <dcterms:created xsi:type="dcterms:W3CDTF">2026-09-16T00:38:03Z</dcterms:created>
  <dcterms:modified xsi:type="dcterms:W3CDTF">2026-09-16T00:38:03Z</dcterms:modified>
</cp:coreProperties>
</file>